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56" r:id="rId2"/>
    <p:sldId id="289" r:id="rId3"/>
    <p:sldId id="290" r:id="rId16"/>
    <p:sldId id="270" r:id="rId4"/>
  </p:sldIdLst>
  <p:sldSz cx="12192000" cy="6858000"/>
  <p:notesSz cx="6858000" cy="9144000"/>
  <p:embeddedFontLst>
    <p:embeddedFont>
      <p:font typeface="Barlow" panose="00000500000000000000" pitchFamily="2" charset="0"/>
      <p:regular r:id="rId6"/>
      <p:bold r:id="rId7"/>
      <p:italic r:id="rId8"/>
      <p:boldItalic r:id="rId9"/>
    </p:embeddedFont>
    <p:embeddedFont>
      <p:font typeface="Barlow ExtraBold" panose="00000900000000000000" pitchFamily="2" charset="0"/>
      <p:bold r:id="rId10"/>
      <p:boldItalic r:id="rId1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C8C"/>
    <a:srgbClr val="102D69"/>
    <a:srgbClr val="C35E2C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  <Relationship Id="rId16" Type="http://schemas.openxmlformats.org/officeDocument/2006/relationships/slide" Target="slides/slide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A0472-7DFD-40A9-9150-459907F8009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06663D-D012-4AB6-9960-DDE5A99585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9991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3DC976-D0C7-23B0-A14C-E9B407E5B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D002FE-8835-817E-CF2E-0D037D3DD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7A4EA2-142C-E8FF-50AE-A8F5DEDFB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E5F66D-AD8E-264B-3B3F-1AB95836C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B35702-20B5-C73E-82A4-7174C092E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709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2965E4-FBE7-CFAD-72EF-89F6B3A66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DD676B-2C04-4C83-DA9C-A4C2C3722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2D32D3-BC47-3607-BA55-4360E02A7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8EC3FB8-A4BA-168A-84DA-4BBC2010F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FD0043-B4AB-5146-637E-7235B1AF0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329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D90FF-35B5-039B-BECB-83AFBCE66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82D140-DFF7-FB5B-75EF-E9328B0DE8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B02B602-4421-D58D-5CD1-0F4A79052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3D4767-0B99-2F96-4E98-78E54374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1EAB53-DB33-2F38-B892-B398E36F6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669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41BE4-8036-FC95-4952-B540CC33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5FB395-0995-FFA6-C040-89D8578268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0DE22C-4B93-1085-DE48-BC5918AF9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D8248E-21AB-D955-4A3A-B7E0B78E4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5A50CA1-326F-868E-D4DB-63B36976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1D65429-F7D2-90F9-BCA8-D40A96CD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2632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D0A7C0-E035-F05E-0945-B1925A48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0ACE97-2092-3E83-0E64-72671E208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6F7299-B7E2-D9E5-0648-79245BFA85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67B873-52DC-E54E-E46F-4E72C7EE1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59EDAD0-92C1-8C37-111B-97C4059116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30F79E-AE91-F6ED-595F-3C57340B9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083B2C1-10BD-B953-1EC2-B0F9B69F7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50066B6-1C4C-4454-D105-AC98C33ED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13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FCF27F-F86C-E93F-479E-B2DB43997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F7B129C-57D0-C6FD-F04C-A11BA061B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672BC1-FA34-02F0-1317-75AC0B3CA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3E6D10D-99B7-A47D-142D-C2A4CE84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21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A024C66-247F-8A3B-06F7-375AC27CC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7AB910E-8152-03C0-67AF-A8AA55C3A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56A56BC-22AE-9219-DBA6-D5CBF4EB7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615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A792F4-A28D-D5B4-6C33-A1924BE9C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9BA58DB-6F68-038F-BC46-EEB04C306A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B2DC21-06FC-0571-98BC-3DFF5719C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DDD9316-B7D0-4CFC-1DAB-14245B00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4B68EE1-F814-CCA0-5412-15855D8BD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719407F-CB94-571D-9F7E-A89543ADC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098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F66C56-36E8-2FA4-902C-A5DCFEA92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DDBF901-E8A3-EFB6-C49C-A4BFCB6EB7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1F06E25-148B-2561-A526-02E030287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28F9B0E-3440-970D-E88F-AC92FC5D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91F9ACB-5542-21F4-281F-07FEBC2BD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6F009F-B102-980E-B42D-3333C3A5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511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92F8E6-C719-CDC0-8DFB-10CCF4923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CA38DC0-E3D2-28F3-F86E-7CB05853E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B71881-9F26-D2F8-9B13-133C3CE7F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8D9118-9C96-407E-BE45-1B340AB39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4641E5-7F75-1A6B-F026-0B381FC84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856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D2016A-1A10-ECCA-1202-EDC545342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94E5C9-FBE1-5780-F569-FCF2AB7D65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E3771E-B62D-4F66-5D39-D9A941B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BD8CDB-C679-DEFE-798F-39D0BD68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00BAFD-8D48-E73B-4CCF-A7A3BC2D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259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EE93773-C5E8-1A35-C1FF-959F2AD9C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BAA8F2-71CB-7A9C-EE45-C17508704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6820EE-51BE-E76D-F6B6-FD6AA75C44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A35DC-F173-4CCC-B58F-DCF7CE7EBEB8}" type="datetimeFigureOut">
              <a:rPr lang="pt-BR" smtClean="0"/>
              <a:t>23/10/2026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F6BC1C-BB1D-8451-D5E8-94F453918D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CEE86-3DE5-4A33-B402-8FDB7A972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CCCB9-691A-4972-BB23-7FC9DCC300F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83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áfico 8">
            <a:extLst>
              <a:ext uri="{FF2B5EF4-FFF2-40B4-BE49-F238E27FC236}">
                <a16:creationId xmlns:a16="http://schemas.microsoft.com/office/drawing/2014/main" id="{DC6B4D1D-17F7-0199-97F3-C771062B6A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EDB8467D-BA7B-2F29-2B53-70CD988A02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66763" y="2648023"/>
            <a:ext cx="4056254" cy="1262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8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AC45-DD28-C9A1-D999-1B5A694F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A91FDCEF-085B-ABB3-77CC-80FBBA928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2113" y="6066959"/>
            <a:ext cx="1390650" cy="4381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4AE523D-6FF9-FDED-62A2-152B1E403AD9}"/>
              </a:ext>
            </a:extLst>
          </p:cNvPr>
          <p:cNvSpPr txBox="1"/>
          <p:nvPr/>
        </p:nvSpPr>
        <p:spPr>
          <a:xfrm>
            <a:off x="569237" y="726243"/>
            <a:ext cx="3783408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pt-BR" sz="1600" dirty="0">
                <a:solidFill>
                  <a:schemeClr val="bg2">
                    <a:lumMod val="50000"/>
                  </a:schemeClr>
                </a:solidFill>
                <a:latin typeface="Barlow ExtraBold" panose="00000900000000000000" pitchFamily="2" charset="0"/>
              </a:rPr>
              <a:t>ALMOXARIFADO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BAEF76-1EA7-58FD-A090-E2E832C2F0C6}"/>
              </a:ext>
            </a:extLst>
          </p:cNvPr>
          <p:cNvSpPr/>
          <p:nvPr/>
        </p:nvSpPr>
        <p:spPr>
          <a:xfrm>
            <a:off x="0" y="0"/>
            <a:ext cx="12192000" cy="232229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65EEBF9-22C5-9BA9-8FB0-491A62E0F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237" y="520246"/>
            <a:ext cx="8925738" cy="5936408"/>
          </a:xfrm>
          <a:prstGeom prst="rect">
            <a:avLst/>
          </a:prstGeom>
        </p:spPr>
      </p:pic>
      <p:sp>
        <p:nvSpPr>
          <p:cNvPr id="101" name="Texto 101"/>
          <p:cNvSpPr txBox="1"/>
          <p:nvPr/>
        </p:nvSpPr>
        <p:spPr>
          <a:xfrm>
            <a:off x="571500" y="1143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t">
            <a:noAutofit/>
          </a:bodyPr>
          <a:lstStyle/>
          <a:p>
            <a:pPr algn="l">
              <a:buNone/>
            </a:pPr>
            <a:r>
              <a:rPr lang="pt-BR" sz="2400" dirty="0">
                <a:solidFill>
                  <a:srgbClr val="102D69"/>
                </a:solidFill>
                <a:latin typeface="Barlow ExtraBold"/>
              </a:rPr>
              <a:t>Ar condicionado venceu em 23/10; mesas e bebedouro vencem dia 30/10</a:t>
            </a:r>
          </a:p>
        </p:txBody>
      </p:sp>
      <p:sp>
        <p:nvSpPr>
          <p:cNvPr id="102" name="Faixa 102"/>
          <p:cNvSpPr/>
          <p:nvPr/>
        </p:nvSpPr>
        <p:spPr>
          <a:xfrm>
            <a:off x="7644606" y="2032000"/>
            <a:ext cx="375444" cy="2819400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03" name="Linha 103"/>
          <p:cNvCxnSpPr/>
          <p:nvPr/>
        </p:nvCxnSpPr>
        <p:spPr>
          <a:xfrm>
            <a:off x="5016500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04" name="Texto 104"/>
          <p:cNvSpPr txBox="1"/>
          <p:nvPr/>
        </p:nvSpPr>
        <p:spPr>
          <a:xfrm>
            <a:off x="5016500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07/09</a:t>
            </a:r>
          </a:p>
        </p:txBody>
      </p:sp>
      <p:cxnSp>
        <p:nvCxnSpPr>
          <p:cNvPr id="105" name="Linha 105"/>
          <p:cNvCxnSpPr/>
          <p:nvPr/>
        </p:nvCxnSpPr>
        <p:spPr>
          <a:xfrm>
            <a:off x="5767387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06" name="Texto 106"/>
          <p:cNvSpPr txBox="1"/>
          <p:nvPr/>
        </p:nvSpPr>
        <p:spPr>
          <a:xfrm>
            <a:off x="5767387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21/09</a:t>
            </a:r>
          </a:p>
        </p:txBody>
      </p:sp>
      <p:cxnSp>
        <p:nvCxnSpPr>
          <p:cNvPr id="107" name="Linha 107"/>
          <p:cNvCxnSpPr/>
          <p:nvPr/>
        </p:nvCxnSpPr>
        <p:spPr>
          <a:xfrm>
            <a:off x="6518275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08" name="Texto 108"/>
          <p:cNvSpPr txBox="1"/>
          <p:nvPr/>
        </p:nvSpPr>
        <p:spPr>
          <a:xfrm>
            <a:off x="6518275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05/10</a:t>
            </a:r>
          </a:p>
        </p:txBody>
      </p:sp>
      <p:cxnSp>
        <p:nvCxnSpPr>
          <p:cNvPr id="109" name="Linha 109"/>
          <p:cNvCxnSpPr/>
          <p:nvPr/>
        </p:nvCxnSpPr>
        <p:spPr>
          <a:xfrm>
            <a:off x="7269162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0" name="Texto 110"/>
          <p:cNvSpPr txBox="1"/>
          <p:nvPr/>
        </p:nvSpPr>
        <p:spPr>
          <a:xfrm>
            <a:off x="7269162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19/10</a:t>
            </a:r>
          </a:p>
        </p:txBody>
      </p:sp>
      <p:cxnSp>
        <p:nvCxnSpPr>
          <p:cNvPr id="111" name="Linha 111"/>
          <p:cNvCxnSpPr/>
          <p:nvPr/>
        </p:nvCxnSpPr>
        <p:spPr>
          <a:xfrm>
            <a:off x="8020050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2" name="Texto 112"/>
          <p:cNvSpPr txBox="1"/>
          <p:nvPr/>
        </p:nvSpPr>
        <p:spPr>
          <a:xfrm>
            <a:off x="8020050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02/11</a:t>
            </a:r>
          </a:p>
        </p:txBody>
      </p:sp>
      <p:cxnSp>
        <p:nvCxnSpPr>
          <p:cNvPr id="113" name="Linha 113"/>
          <p:cNvCxnSpPr/>
          <p:nvPr/>
        </p:nvCxnSpPr>
        <p:spPr>
          <a:xfrm>
            <a:off x="8770937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4" name="Texto 114"/>
          <p:cNvSpPr txBox="1"/>
          <p:nvPr/>
        </p:nvSpPr>
        <p:spPr>
          <a:xfrm>
            <a:off x="8770937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16/11</a:t>
            </a:r>
          </a:p>
        </p:txBody>
      </p:sp>
      <p:cxnSp>
        <p:nvCxnSpPr>
          <p:cNvPr id="115" name="Linha 115"/>
          <p:cNvCxnSpPr/>
          <p:nvPr/>
        </p:nvCxnSpPr>
        <p:spPr>
          <a:xfrm>
            <a:off x="9521825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6" name="Texto 116"/>
          <p:cNvSpPr txBox="1"/>
          <p:nvPr/>
        </p:nvSpPr>
        <p:spPr>
          <a:xfrm>
            <a:off x="9521825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30/11</a:t>
            </a:r>
          </a:p>
        </p:txBody>
      </p:sp>
      <p:cxnSp>
        <p:nvCxnSpPr>
          <p:cNvPr id="117" name="Linha 117"/>
          <p:cNvCxnSpPr/>
          <p:nvPr/>
        </p:nvCxnSpPr>
        <p:spPr>
          <a:xfrm>
            <a:off x="10272712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8" name="Texto 118"/>
          <p:cNvSpPr txBox="1"/>
          <p:nvPr/>
        </p:nvSpPr>
        <p:spPr>
          <a:xfrm>
            <a:off x="10272712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14/12</a:t>
            </a:r>
          </a:p>
        </p:txBody>
      </p:sp>
      <p:cxnSp>
        <p:nvCxnSpPr>
          <p:cNvPr id="119" name="Linha 119"/>
          <p:cNvCxnSpPr/>
          <p:nvPr/>
        </p:nvCxnSpPr>
        <p:spPr>
          <a:xfrm>
            <a:off x="11023600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20" name="Linha 120"/>
          <p:cNvCxnSpPr/>
          <p:nvPr/>
        </p:nvCxnSpPr>
        <p:spPr>
          <a:xfrm>
            <a:off x="11023600" y="1828800"/>
            <a:ext cx="0" cy="30226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21" name="Texto 121"/>
          <p:cNvSpPr txBox="1"/>
          <p:nvPr/>
        </p:nvSpPr>
        <p:spPr>
          <a:xfrm>
            <a:off x="673100" y="1778000"/>
            <a:ext cx="31369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b="1" dirty="0">
                <a:solidFill>
                  <a:srgbClr val="767171"/>
                </a:solidFill>
                <a:latin typeface="Barlow"/>
              </a:rPr>
              <a:t>Ação</a:t>
            </a:r>
          </a:p>
        </p:txBody>
      </p:sp>
      <p:sp>
        <p:nvSpPr>
          <p:cNvPr id="122" name="Texto 122"/>
          <p:cNvSpPr txBox="1"/>
          <p:nvPr/>
        </p:nvSpPr>
        <p:spPr>
          <a:xfrm>
            <a:off x="3810000" y="1778000"/>
            <a:ext cx="1206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b="1" dirty="0">
                <a:solidFill>
                  <a:srgbClr val="767171"/>
                </a:solidFill>
                <a:latin typeface="Barlow"/>
              </a:rPr>
              <a:t>Responsável</a:t>
            </a:r>
          </a:p>
        </p:txBody>
      </p:sp>
      <p:cxnSp>
        <p:nvCxnSpPr>
          <p:cNvPr id="123" name="Linha 123"/>
          <p:cNvCxnSpPr/>
          <p:nvPr/>
        </p:nvCxnSpPr>
        <p:spPr>
          <a:xfrm>
            <a:off x="673100" y="2057400"/>
            <a:ext cx="103505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24" name="Texto 124"/>
          <p:cNvSpPr txBox="1"/>
          <p:nvPr/>
        </p:nvSpPr>
        <p:spPr>
          <a:xfrm>
            <a:off x="673100" y="2108200"/>
            <a:ext cx="313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Solicitar ar condicionado</a:t>
            </a:r>
          </a:p>
        </p:txBody>
      </p:sp>
      <p:sp>
        <p:nvSpPr>
          <p:cNvPr id="125" name="Texto 125"/>
          <p:cNvSpPr txBox="1"/>
          <p:nvPr/>
        </p:nvSpPr>
        <p:spPr>
          <a:xfrm>
            <a:off x="3810000" y="2108200"/>
            <a:ext cx="1206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Almoxarifado</a:t>
            </a:r>
          </a:p>
        </p:txBody>
      </p:sp>
      <p:sp>
        <p:nvSpPr>
          <p:cNvPr id="126" name="Barra 126"/>
          <p:cNvSpPr/>
          <p:nvPr/>
        </p:nvSpPr>
        <p:spPr>
          <a:xfrm>
            <a:off x="5123769" y="2260600"/>
            <a:ext cx="2359932" cy="1524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27" name="Texto 127"/>
          <p:cNvSpPr txBox="1"/>
          <p:nvPr/>
        </p:nvSpPr>
        <p:spPr>
          <a:xfrm>
            <a:off x="7720806" y="2108200"/>
            <a:ext cx="160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200" b="1" dirty="0">
                <a:solidFill>
                  <a:srgbClr val="EC6A1D"/>
                </a:solidFill>
                <a:latin typeface="Barlow"/>
              </a:rPr>
              <a:t>Vencido em 23/10</a:t>
            </a:r>
          </a:p>
        </p:txBody>
      </p:sp>
      <p:cxnSp>
        <p:nvCxnSpPr>
          <p:cNvPr id="128" name="Linha 128"/>
          <p:cNvCxnSpPr/>
          <p:nvPr/>
        </p:nvCxnSpPr>
        <p:spPr>
          <a:xfrm>
            <a:off x="673100" y="25654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29" name="Texto 129"/>
          <p:cNvSpPr txBox="1"/>
          <p:nvPr/>
        </p:nvSpPr>
        <p:spPr>
          <a:xfrm>
            <a:off x="673100" y="2565400"/>
            <a:ext cx="313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Solicitar mesas e cadeiras</a:t>
            </a:r>
          </a:p>
        </p:txBody>
      </p:sp>
      <p:sp>
        <p:nvSpPr>
          <p:cNvPr id="130" name="Texto 130"/>
          <p:cNvSpPr txBox="1"/>
          <p:nvPr/>
        </p:nvSpPr>
        <p:spPr>
          <a:xfrm>
            <a:off x="3810000" y="2565400"/>
            <a:ext cx="1206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Almoxarifado</a:t>
            </a:r>
          </a:p>
        </p:txBody>
      </p:sp>
      <p:sp>
        <p:nvSpPr>
          <p:cNvPr id="131" name="Barra 131"/>
          <p:cNvSpPr/>
          <p:nvPr/>
        </p:nvSpPr>
        <p:spPr>
          <a:xfrm>
            <a:off x="5123769" y="2717800"/>
            <a:ext cx="2735376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32" name="Linha 132"/>
          <p:cNvCxnSpPr/>
          <p:nvPr/>
        </p:nvCxnSpPr>
        <p:spPr>
          <a:xfrm>
            <a:off x="673100" y="30226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33" name="Texto 133"/>
          <p:cNvSpPr txBox="1"/>
          <p:nvPr/>
        </p:nvSpPr>
        <p:spPr>
          <a:xfrm>
            <a:off x="673100" y="3022600"/>
            <a:ext cx="313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Solicitar bebedouro</a:t>
            </a:r>
          </a:p>
        </p:txBody>
      </p:sp>
      <p:sp>
        <p:nvSpPr>
          <p:cNvPr id="134" name="Texto 134"/>
          <p:cNvSpPr txBox="1"/>
          <p:nvPr/>
        </p:nvSpPr>
        <p:spPr>
          <a:xfrm>
            <a:off x="3810000" y="3022600"/>
            <a:ext cx="1206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Almoxarifado</a:t>
            </a:r>
          </a:p>
        </p:txBody>
      </p:sp>
      <p:sp>
        <p:nvSpPr>
          <p:cNvPr id="135" name="Barra 135"/>
          <p:cNvSpPr/>
          <p:nvPr/>
        </p:nvSpPr>
        <p:spPr>
          <a:xfrm>
            <a:off x="5123769" y="3175000"/>
            <a:ext cx="2735376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36" name="Linha 136"/>
          <p:cNvCxnSpPr/>
          <p:nvPr/>
        </p:nvCxnSpPr>
        <p:spPr>
          <a:xfrm>
            <a:off x="673100" y="34798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37" name="Texto 137"/>
          <p:cNvSpPr txBox="1"/>
          <p:nvPr/>
        </p:nvSpPr>
        <p:spPr>
          <a:xfrm>
            <a:off x="673100" y="3479800"/>
            <a:ext cx="313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Solicitar EPI, EPC e ferramental</a:t>
            </a:r>
          </a:p>
        </p:txBody>
      </p:sp>
      <p:sp>
        <p:nvSpPr>
          <p:cNvPr id="138" name="Texto 138"/>
          <p:cNvSpPr txBox="1"/>
          <p:nvPr/>
        </p:nvSpPr>
        <p:spPr>
          <a:xfrm>
            <a:off x="3810000" y="3479800"/>
            <a:ext cx="1206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Almoxarifado</a:t>
            </a:r>
          </a:p>
        </p:txBody>
      </p:sp>
      <p:sp>
        <p:nvSpPr>
          <p:cNvPr id="139" name="Barra 139"/>
          <p:cNvSpPr/>
          <p:nvPr/>
        </p:nvSpPr>
        <p:spPr>
          <a:xfrm>
            <a:off x="5123769" y="3632200"/>
            <a:ext cx="4827134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40" name="Linha 140"/>
          <p:cNvCxnSpPr/>
          <p:nvPr/>
        </p:nvCxnSpPr>
        <p:spPr>
          <a:xfrm>
            <a:off x="673100" y="39370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41" name="Texto 141"/>
          <p:cNvSpPr txBox="1"/>
          <p:nvPr/>
        </p:nvSpPr>
        <p:spPr>
          <a:xfrm>
            <a:off x="673100" y="3937000"/>
            <a:ext cx="313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Definir estoque mínimo do contrato</a:t>
            </a:r>
          </a:p>
        </p:txBody>
      </p:sp>
      <p:sp>
        <p:nvSpPr>
          <p:cNvPr id="142" name="Texto 142"/>
          <p:cNvSpPr txBox="1"/>
          <p:nvPr/>
        </p:nvSpPr>
        <p:spPr>
          <a:xfrm>
            <a:off x="3810000" y="3937000"/>
            <a:ext cx="1206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Almoxarifado</a:t>
            </a:r>
          </a:p>
        </p:txBody>
      </p:sp>
      <p:sp>
        <p:nvSpPr>
          <p:cNvPr id="143" name="Barra 143"/>
          <p:cNvSpPr/>
          <p:nvPr/>
        </p:nvSpPr>
        <p:spPr>
          <a:xfrm>
            <a:off x="5123769" y="4089400"/>
            <a:ext cx="5470752" cy="1524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44" name="Linha 144"/>
          <p:cNvCxnSpPr/>
          <p:nvPr/>
        </p:nvCxnSpPr>
        <p:spPr>
          <a:xfrm>
            <a:off x="673100" y="43942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45" name="Texto 145"/>
          <p:cNvSpPr txBox="1"/>
          <p:nvPr/>
        </p:nvSpPr>
        <p:spPr>
          <a:xfrm>
            <a:off x="673100" y="4394200"/>
            <a:ext cx="31369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Separar materiais por atividade</a:t>
            </a:r>
          </a:p>
        </p:txBody>
      </p:sp>
      <p:sp>
        <p:nvSpPr>
          <p:cNvPr id="146" name="Texto 146"/>
          <p:cNvSpPr txBox="1"/>
          <p:nvPr/>
        </p:nvSpPr>
        <p:spPr>
          <a:xfrm>
            <a:off x="3810000" y="4394200"/>
            <a:ext cx="1206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Almoxarifado</a:t>
            </a:r>
          </a:p>
        </p:txBody>
      </p:sp>
      <p:sp>
        <p:nvSpPr>
          <p:cNvPr id="147" name="Barra 147"/>
          <p:cNvSpPr/>
          <p:nvPr/>
        </p:nvSpPr>
        <p:spPr>
          <a:xfrm>
            <a:off x="5660117" y="4546600"/>
            <a:ext cx="3003550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48" name="Linha 148"/>
          <p:cNvCxnSpPr/>
          <p:nvPr/>
        </p:nvCxnSpPr>
        <p:spPr>
          <a:xfrm>
            <a:off x="673100" y="48514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cxnSp>
        <p:nvCxnSpPr>
          <p:cNvPr id="149" name="Linha 149"/>
          <p:cNvCxnSpPr/>
          <p:nvPr/>
        </p:nvCxnSpPr>
        <p:spPr>
          <a:xfrm>
            <a:off x="7644606" y="2032000"/>
            <a:ext cx="0" cy="2895600"/>
          </a:xfrm>
          <a:prstGeom prst="line">
            <a:avLst/>
          </a:prstGeom>
          <a:ln w="15875">
            <a:solidFill>
              <a:srgbClr val="102D69"/>
            </a:solidFill>
            <a:prstDash val="dash"/>
          </a:ln>
        </p:spPr>
      </p:cxnSp>
      <p:sp>
        <p:nvSpPr>
          <p:cNvPr id="150" name="Texto 150"/>
          <p:cNvSpPr txBox="1"/>
          <p:nvPr/>
        </p:nvSpPr>
        <p:spPr>
          <a:xfrm>
            <a:off x="7136606" y="495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102D69"/>
                </a:solidFill>
                <a:latin typeface="Barlow"/>
              </a:rPr>
              <a:t>Hoje, 26/10</a:t>
            </a:r>
          </a:p>
        </p:txBody>
      </p:sp>
      <p:sp>
        <p:nvSpPr>
          <p:cNvPr id="151" name="Legenda 151"/>
          <p:cNvSpPr/>
          <p:nvPr/>
        </p:nvSpPr>
        <p:spPr>
          <a:xfrm>
            <a:off x="764540" y="5003800"/>
            <a:ext cx="127000" cy="1270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52" name="Texto 152"/>
          <p:cNvSpPr txBox="1"/>
          <p:nvPr/>
        </p:nvSpPr>
        <p:spPr>
          <a:xfrm>
            <a:off x="942340" y="49403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200" dirty="0">
                <a:solidFill>
                  <a:srgbClr val="404040"/>
                </a:solidFill>
                <a:latin typeface="Barlow"/>
              </a:rPr>
              <a:t>Em andamento</a:t>
            </a:r>
          </a:p>
        </p:txBody>
      </p:sp>
      <p:sp>
        <p:nvSpPr>
          <p:cNvPr id="153" name="Legenda 153"/>
          <p:cNvSpPr/>
          <p:nvPr/>
        </p:nvSpPr>
        <p:spPr>
          <a:xfrm>
            <a:off x="2136140" y="5003800"/>
            <a:ext cx="127000" cy="1270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54" name="Texto 154"/>
          <p:cNvSpPr txBox="1"/>
          <p:nvPr/>
        </p:nvSpPr>
        <p:spPr>
          <a:xfrm>
            <a:off x="2313940" y="49403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200" dirty="0">
                <a:solidFill>
                  <a:srgbClr val="404040"/>
                </a:solidFill>
                <a:latin typeface="Barlow"/>
              </a:rPr>
              <a:t>Não iniciado</a:t>
            </a:r>
          </a:p>
        </p:txBody>
      </p:sp>
      <p:sp>
        <p:nvSpPr>
          <p:cNvPr id="155" name="Legenda 155"/>
          <p:cNvSpPr/>
          <p:nvPr/>
        </p:nvSpPr>
        <p:spPr>
          <a:xfrm>
            <a:off x="3507740" y="5003800"/>
            <a:ext cx="127000" cy="127000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56" name="Texto 156"/>
          <p:cNvSpPr txBox="1"/>
          <p:nvPr/>
        </p:nvSpPr>
        <p:spPr>
          <a:xfrm>
            <a:off x="3685540" y="49403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200" dirty="0">
                <a:solidFill>
                  <a:srgbClr val="404040"/>
                </a:solidFill>
                <a:latin typeface="Barlow"/>
              </a:rPr>
              <a:t>Semana atual</a:t>
            </a:r>
          </a:p>
        </p:txBody>
      </p:sp>
    </p:spTree>
    <p:extLst>
      <p:ext uri="{BB962C8B-B14F-4D97-AF65-F5344CB8AC3E}">
        <p14:creationId xmlns:p14="http://schemas.microsoft.com/office/powerpoint/2010/main" val="133171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8E8814-3336-BB49-DFA7-B1EADE6AD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62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3AC45-DD28-C9A1-D999-1B5A694FF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A91FDCEF-085B-ABB3-77CC-80FBBA928A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32113" y="6066959"/>
            <a:ext cx="1390650" cy="43815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44AE523D-6FF9-FDED-62A2-152B1E403AD9}"/>
              </a:ext>
            </a:extLst>
          </p:cNvPr>
          <p:cNvSpPr txBox="1"/>
          <p:nvPr/>
        </p:nvSpPr>
        <p:spPr>
          <a:xfrm>
            <a:off x="569237" y="726243"/>
            <a:ext cx="3783408" cy="33855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pt-BR" sz="1600" dirty="0">
                <a:solidFill>
                  <a:schemeClr val="bg2">
                    <a:lumMod val="50000"/>
                  </a:schemeClr>
                </a:solidFill>
                <a:latin typeface="Barlow ExtraBold" panose="00000900000000000000" pitchFamily="2" charset="0"/>
              </a:rPr>
              <a:t>COMPRAS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BAEF76-1EA7-58FD-A090-E2E832C2F0C6}"/>
              </a:ext>
            </a:extLst>
          </p:cNvPr>
          <p:cNvSpPr/>
          <p:nvPr/>
        </p:nvSpPr>
        <p:spPr>
          <a:xfrm>
            <a:off x="0" y="0"/>
            <a:ext cx="12192000" cy="232229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65EEBF9-22C5-9BA9-8FB0-491A62E0F9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237" y="520246"/>
            <a:ext cx="8925738" cy="5936408"/>
          </a:xfrm>
          <a:prstGeom prst="rect">
            <a:avLst/>
          </a:prstGeom>
        </p:spPr>
      </p:pic>
      <p:sp>
        <p:nvSpPr>
          <p:cNvPr id="101" name="Texto 101"/>
          <p:cNvSpPr txBox="1"/>
          <p:nvPr/>
        </p:nvSpPr>
        <p:spPr>
          <a:xfrm>
            <a:off x="571500" y="1143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t">
            <a:noAutofit/>
          </a:bodyPr>
          <a:lstStyle/>
          <a:p>
            <a:pPr algn="l">
              <a:buNone/>
            </a:pPr>
            <a:r>
              <a:rPr lang="pt-BR" sz="2400" dirty="0">
                <a:solidFill>
                  <a:srgbClr val="102D69"/>
                </a:solidFill>
                <a:latin typeface="Barlow ExtraBold"/>
              </a:rPr>
              <a:t>Computadores, telefones e impressoras ainda sem data de término</a:t>
            </a:r>
          </a:p>
        </p:txBody>
      </p:sp>
      <p:sp>
        <p:nvSpPr>
          <p:cNvPr id="102" name="Faixa 102"/>
          <p:cNvSpPr/>
          <p:nvPr/>
        </p:nvSpPr>
        <p:spPr>
          <a:xfrm>
            <a:off x="7644606" y="2032000"/>
            <a:ext cx="375444" cy="3867200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03" name="Linha 103"/>
          <p:cNvCxnSpPr/>
          <p:nvPr/>
        </p:nvCxnSpPr>
        <p:spPr>
          <a:xfrm>
            <a:off x="5016500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04" name="Texto 104"/>
          <p:cNvSpPr txBox="1"/>
          <p:nvPr/>
        </p:nvSpPr>
        <p:spPr>
          <a:xfrm>
            <a:off x="5016500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07/09</a:t>
            </a:r>
          </a:p>
        </p:txBody>
      </p:sp>
      <p:cxnSp>
        <p:nvCxnSpPr>
          <p:cNvPr id="105" name="Linha 105"/>
          <p:cNvCxnSpPr/>
          <p:nvPr/>
        </p:nvCxnSpPr>
        <p:spPr>
          <a:xfrm>
            <a:off x="5767387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06" name="Texto 106"/>
          <p:cNvSpPr txBox="1"/>
          <p:nvPr/>
        </p:nvSpPr>
        <p:spPr>
          <a:xfrm>
            <a:off x="5767387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21/09</a:t>
            </a:r>
          </a:p>
        </p:txBody>
      </p:sp>
      <p:cxnSp>
        <p:nvCxnSpPr>
          <p:cNvPr id="107" name="Linha 107"/>
          <p:cNvCxnSpPr/>
          <p:nvPr/>
        </p:nvCxnSpPr>
        <p:spPr>
          <a:xfrm>
            <a:off x="6518275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08" name="Texto 108"/>
          <p:cNvSpPr txBox="1"/>
          <p:nvPr/>
        </p:nvSpPr>
        <p:spPr>
          <a:xfrm>
            <a:off x="6518275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05/10</a:t>
            </a:r>
          </a:p>
        </p:txBody>
      </p:sp>
      <p:cxnSp>
        <p:nvCxnSpPr>
          <p:cNvPr id="109" name="Linha 109"/>
          <p:cNvCxnSpPr/>
          <p:nvPr/>
        </p:nvCxnSpPr>
        <p:spPr>
          <a:xfrm>
            <a:off x="7269162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0" name="Texto 110"/>
          <p:cNvSpPr txBox="1"/>
          <p:nvPr/>
        </p:nvSpPr>
        <p:spPr>
          <a:xfrm>
            <a:off x="7269162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19/10</a:t>
            </a:r>
          </a:p>
        </p:txBody>
      </p:sp>
      <p:cxnSp>
        <p:nvCxnSpPr>
          <p:cNvPr id="111" name="Linha 111"/>
          <p:cNvCxnSpPr/>
          <p:nvPr/>
        </p:nvCxnSpPr>
        <p:spPr>
          <a:xfrm>
            <a:off x="8020050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2" name="Texto 112"/>
          <p:cNvSpPr txBox="1"/>
          <p:nvPr/>
        </p:nvSpPr>
        <p:spPr>
          <a:xfrm>
            <a:off x="8020050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02/11</a:t>
            </a:r>
          </a:p>
        </p:txBody>
      </p:sp>
      <p:cxnSp>
        <p:nvCxnSpPr>
          <p:cNvPr id="113" name="Linha 113"/>
          <p:cNvCxnSpPr/>
          <p:nvPr/>
        </p:nvCxnSpPr>
        <p:spPr>
          <a:xfrm>
            <a:off x="8770937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4" name="Texto 114"/>
          <p:cNvSpPr txBox="1"/>
          <p:nvPr/>
        </p:nvSpPr>
        <p:spPr>
          <a:xfrm>
            <a:off x="8770937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16/11</a:t>
            </a:r>
          </a:p>
        </p:txBody>
      </p:sp>
      <p:cxnSp>
        <p:nvCxnSpPr>
          <p:cNvPr id="115" name="Linha 115"/>
          <p:cNvCxnSpPr/>
          <p:nvPr/>
        </p:nvCxnSpPr>
        <p:spPr>
          <a:xfrm>
            <a:off x="9521825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6" name="Texto 116"/>
          <p:cNvSpPr txBox="1"/>
          <p:nvPr/>
        </p:nvSpPr>
        <p:spPr>
          <a:xfrm>
            <a:off x="9521825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30/11</a:t>
            </a:r>
          </a:p>
        </p:txBody>
      </p:sp>
      <p:cxnSp>
        <p:nvCxnSpPr>
          <p:cNvPr id="117" name="Linha 117"/>
          <p:cNvCxnSpPr/>
          <p:nvPr/>
        </p:nvCxnSpPr>
        <p:spPr>
          <a:xfrm>
            <a:off x="10272712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18" name="Texto 118"/>
          <p:cNvSpPr txBox="1"/>
          <p:nvPr/>
        </p:nvSpPr>
        <p:spPr>
          <a:xfrm>
            <a:off x="10272712" y="1778000"/>
            <a:ext cx="63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3810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14/12</a:t>
            </a:r>
          </a:p>
        </p:txBody>
      </p:sp>
      <p:cxnSp>
        <p:nvCxnSpPr>
          <p:cNvPr id="119" name="Linha 119"/>
          <p:cNvCxnSpPr/>
          <p:nvPr/>
        </p:nvCxnSpPr>
        <p:spPr>
          <a:xfrm>
            <a:off x="11023600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120" name="Linha 120"/>
          <p:cNvCxnSpPr/>
          <p:nvPr/>
        </p:nvCxnSpPr>
        <p:spPr>
          <a:xfrm>
            <a:off x="11023600" y="1828800"/>
            <a:ext cx="0" cy="40704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121" name="Texto 121"/>
          <p:cNvSpPr txBox="1"/>
          <p:nvPr/>
        </p:nvSpPr>
        <p:spPr>
          <a:xfrm>
            <a:off x="673100" y="1778000"/>
            <a:ext cx="31369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b="1" dirty="0">
                <a:solidFill>
                  <a:srgbClr val="767171"/>
                </a:solidFill>
                <a:latin typeface="Barlow"/>
              </a:rPr>
              <a:t>Ação</a:t>
            </a:r>
          </a:p>
        </p:txBody>
      </p:sp>
      <p:sp>
        <p:nvSpPr>
          <p:cNvPr id="122" name="Texto 122"/>
          <p:cNvSpPr txBox="1"/>
          <p:nvPr/>
        </p:nvSpPr>
        <p:spPr>
          <a:xfrm>
            <a:off x="3810000" y="1778000"/>
            <a:ext cx="12065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b="1" dirty="0">
                <a:solidFill>
                  <a:srgbClr val="767171"/>
                </a:solidFill>
                <a:latin typeface="Barlow"/>
              </a:rPr>
              <a:t>Responsável</a:t>
            </a:r>
          </a:p>
        </p:txBody>
      </p:sp>
      <p:cxnSp>
        <p:nvCxnSpPr>
          <p:cNvPr id="123" name="Linha 123"/>
          <p:cNvCxnSpPr/>
          <p:nvPr/>
        </p:nvCxnSpPr>
        <p:spPr>
          <a:xfrm>
            <a:off x="673100" y="2057400"/>
            <a:ext cx="103505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24" name="Texto 124"/>
          <p:cNvSpPr txBox="1"/>
          <p:nvPr/>
        </p:nvSpPr>
        <p:spPr>
          <a:xfrm>
            <a:off x="673100" y="21082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Mesas e cadeiras</a:t>
            </a:r>
          </a:p>
        </p:txBody>
      </p:sp>
      <p:sp>
        <p:nvSpPr>
          <p:cNvPr id="125" name="Texto 125"/>
          <p:cNvSpPr txBox="1"/>
          <p:nvPr/>
        </p:nvSpPr>
        <p:spPr>
          <a:xfrm>
            <a:off x="3810000" y="21082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26" name="Barra 126"/>
          <p:cNvSpPr/>
          <p:nvPr/>
        </p:nvSpPr>
        <p:spPr>
          <a:xfrm>
            <a:off x="5123769" y="2221550"/>
            <a:ext cx="2735376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27" name="Linha 127"/>
          <p:cNvCxnSpPr/>
          <p:nvPr/>
        </p:nvCxnSpPr>
        <p:spPr>
          <a:xfrm>
            <a:off x="673100" y="24873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28" name="Texto 128"/>
          <p:cNvSpPr txBox="1"/>
          <p:nvPr/>
        </p:nvSpPr>
        <p:spPr>
          <a:xfrm>
            <a:off x="673100" y="24873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Ar condicionado</a:t>
            </a:r>
          </a:p>
        </p:txBody>
      </p:sp>
      <p:sp>
        <p:nvSpPr>
          <p:cNvPr id="129" name="Texto 129"/>
          <p:cNvSpPr txBox="1"/>
          <p:nvPr/>
        </p:nvSpPr>
        <p:spPr>
          <a:xfrm>
            <a:off x="3810000" y="24873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30" name="Barra 130"/>
          <p:cNvSpPr/>
          <p:nvPr/>
        </p:nvSpPr>
        <p:spPr>
          <a:xfrm>
            <a:off x="5123769" y="2600650"/>
            <a:ext cx="2735376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31" name="Linha 131"/>
          <p:cNvCxnSpPr/>
          <p:nvPr/>
        </p:nvCxnSpPr>
        <p:spPr>
          <a:xfrm>
            <a:off x="673100" y="28664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32" name="Texto 132"/>
          <p:cNvSpPr txBox="1"/>
          <p:nvPr/>
        </p:nvSpPr>
        <p:spPr>
          <a:xfrm>
            <a:off x="673100" y="28664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Bebedouro</a:t>
            </a:r>
          </a:p>
        </p:txBody>
      </p:sp>
      <p:sp>
        <p:nvSpPr>
          <p:cNvPr id="133" name="Texto 133"/>
          <p:cNvSpPr txBox="1"/>
          <p:nvPr/>
        </p:nvSpPr>
        <p:spPr>
          <a:xfrm>
            <a:off x="3810000" y="28664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34" name="Barra 134"/>
          <p:cNvSpPr/>
          <p:nvPr/>
        </p:nvSpPr>
        <p:spPr>
          <a:xfrm>
            <a:off x="5123769" y="2979750"/>
            <a:ext cx="3057185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35" name="Linha 135"/>
          <p:cNvCxnSpPr/>
          <p:nvPr/>
        </p:nvCxnSpPr>
        <p:spPr>
          <a:xfrm>
            <a:off x="673100" y="32455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36" name="Texto 136"/>
          <p:cNvSpPr txBox="1"/>
          <p:nvPr/>
        </p:nvSpPr>
        <p:spPr>
          <a:xfrm>
            <a:off x="673100" y="32455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Kit multimídia para treinamento</a:t>
            </a:r>
          </a:p>
        </p:txBody>
      </p:sp>
      <p:sp>
        <p:nvSpPr>
          <p:cNvPr id="137" name="Texto 137"/>
          <p:cNvSpPr txBox="1"/>
          <p:nvPr/>
        </p:nvSpPr>
        <p:spPr>
          <a:xfrm>
            <a:off x="3810000" y="32455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38" name="Barra 138"/>
          <p:cNvSpPr/>
          <p:nvPr/>
        </p:nvSpPr>
        <p:spPr>
          <a:xfrm>
            <a:off x="5123769" y="3358850"/>
            <a:ext cx="3325359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39" name="Linha 139"/>
          <p:cNvCxnSpPr/>
          <p:nvPr/>
        </p:nvCxnSpPr>
        <p:spPr>
          <a:xfrm>
            <a:off x="673100" y="36246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40" name="Texto 140"/>
          <p:cNvSpPr txBox="1"/>
          <p:nvPr/>
        </p:nvSpPr>
        <p:spPr>
          <a:xfrm>
            <a:off x="673100" y="36246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Computadores</a:t>
            </a:r>
          </a:p>
        </p:txBody>
      </p:sp>
      <p:sp>
        <p:nvSpPr>
          <p:cNvPr id="141" name="Texto 141"/>
          <p:cNvSpPr txBox="1"/>
          <p:nvPr/>
        </p:nvSpPr>
        <p:spPr>
          <a:xfrm>
            <a:off x="3810000" y="36246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42" name="Barra 142"/>
          <p:cNvSpPr/>
          <p:nvPr/>
        </p:nvSpPr>
        <p:spPr>
          <a:xfrm>
            <a:off x="5123769" y="3737950"/>
            <a:ext cx="2520837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43" name="Texto 143"/>
          <p:cNvSpPr txBox="1"/>
          <p:nvPr/>
        </p:nvSpPr>
        <p:spPr>
          <a:xfrm>
            <a:off x="7720806" y="3624600"/>
            <a:ext cx="16000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200" b="1" dirty="0">
                <a:solidFill>
                  <a:srgbClr val="EC6A1D"/>
                </a:solidFill>
                <a:latin typeface="Barlow"/>
              </a:rPr>
              <a:t>Sem data de término</a:t>
            </a:r>
          </a:p>
        </p:txBody>
      </p:sp>
      <p:cxnSp>
        <p:nvCxnSpPr>
          <p:cNvPr id="144" name="Linha 144"/>
          <p:cNvCxnSpPr/>
          <p:nvPr/>
        </p:nvCxnSpPr>
        <p:spPr>
          <a:xfrm>
            <a:off x="673100" y="40037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45" name="Texto 145"/>
          <p:cNvSpPr txBox="1"/>
          <p:nvPr/>
        </p:nvSpPr>
        <p:spPr>
          <a:xfrm>
            <a:off x="673100" y="40037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Aparelhos telefônicos</a:t>
            </a:r>
          </a:p>
        </p:txBody>
      </p:sp>
      <p:sp>
        <p:nvSpPr>
          <p:cNvPr id="146" name="Texto 146"/>
          <p:cNvSpPr txBox="1"/>
          <p:nvPr/>
        </p:nvSpPr>
        <p:spPr>
          <a:xfrm>
            <a:off x="3810000" y="40037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47" name="Barra 147"/>
          <p:cNvSpPr/>
          <p:nvPr/>
        </p:nvSpPr>
        <p:spPr>
          <a:xfrm>
            <a:off x="5123769" y="4117050"/>
            <a:ext cx="2520837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48" name="Texto 148"/>
          <p:cNvSpPr txBox="1"/>
          <p:nvPr/>
        </p:nvSpPr>
        <p:spPr>
          <a:xfrm>
            <a:off x="7720806" y="4003700"/>
            <a:ext cx="16000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200" b="1" dirty="0">
                <a:solidFill>
                  <a:srgbClr val="EC6A1D"/>
                </a:solidFill>
                <a:latin typeface="Barlow"/>
              </a:rPr>
              <a:t>Sem data de término</a:t>
            </a:r>
          </a:p>
        </p:txBody>
      </p:sp>
      <p:cxnSp>
        <p:nvCxnSpPr>
          <p:cNvPr id="149" name="Linha 149"/>
          <p:cNvCxnSpPr/>
          <p:nvPr/>
        </p:nvCxnSpPr>
        <p:spPr>
          <a:xfrm>
            <a:off x="673100" y="43828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50" name="Texto 150"/>
          <p:cNvSpPr txBox="1"/>
          <p:nvPr/>
        </p:nvSpPr>
        <p:spPr>
          <a:xfrm>
            <a:off x="673100" y="43828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Impressoras (compra ou locação)</a:t>
            </a:r>
          </a:p>
        </p:txBody>
      </p:sp>
      <p:sp>
        <p:nvSpPr>
          <p:cNvPr id="151" name="Texto 151"/>
          <p:cNvSpPr txBox="1"/>
          <p:nvPr/>
        </p:nvSpPr>
        <p:spPr>
          <a:xfrm>
            <a:off x="3810000" y="43828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52" name="Barra 152"/>
          <p:cNvSpPr/>
          <p:nvPr/>
        </p:nvSpPr>
        <p:spPr>
          <a:xfrm>
            <a:off x="5123769" y="4496150"/>
            <a:ext cx="2520837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53" name="Texto 153"/>
          <p:cNvSpPr txBox="1"/>
          <p:nvPr/>
        </p:nvSpPr>
        <p:spPr>
          <a:xfrm>
            <a:off x="7720806" y="4382800"/>
            <a:ext cx="16000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200" b="1" dirty="0">
                <a:solidFill>
                  <a:srgbClr val="EC6A1D"/>
                </a:solidFill>
                <a:latin typeface="Barlow"/>
              </a:rPr>
              <a:t>Sem data de término</a:t>
            </a:r>
          </a:p>
        </p:txBody>
      </p:sp>
      <p:cxnSp>
        <p:nvCxnSpPr>
          <p:cNvPr id="154" name="Linha 154"/>
          <p:cNvCxnSpPr/>
          <p:nvPr/>
        </p:nvCxnSpPr>
        <p:spPr>
          <a:xfrm>
            <a:off x="673100" y="47619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55" name="Texto 155"/>
          <p:cNvSpPr txBox="1"/>
          <p:nvPr/>
        </p:nvSpPr>
        <p:spPr>
          <a:xfrm>
            <a:off x="673100" y="47619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EPI, EPC e ferramental</a:t>
            </a:r>
          </a:p>
        </p:txBody>
      </p:sp>
      <p:sp>
        <p:nvSpPr>
          <p:cNvPr id="156" name="Texto 156"/>
          <p:cNvSpPr txBox="1"/>
          <p:nvPr/>
        </p:nvSpPr>
        <p:spPr>
          <a:xfrm>
            <a:off x="3810000" y="47619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57" name="Barra 157"/>
          <p:cNvSpPr/>
          <p:nvPr/>
        </p:nvSpPr>
        <p:spPr>
          <a:xfrm>
            <a:off x="5660117" y="4875250"/>
            <a:ext cx="4290786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58" name="Linha 158"/>
          <p:cNvCxnSpPr/>
          <p:nvPr/>
        </p:nvCxnSpPr>
        <p:spPr>
          <a:xfrm>
            <a:off x="673100" y="51410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59" name="Texto 159"/>
          <p:cNvSpPr txBox="1"/>
          <p:nvPr/>
        </p:nvSpPr>
        <p:spPr>
          <a:xfrm>
            <a:off x="673100" y="51410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Computadores — reforço</a:t>
            </a:r>
          </a:p>
        </p:txBody>
      </p:sp>
      <p:sp>
        <p:nvSpPr>
          <p:cNvPr id="160" name="Texto 160"/>
          <p:cNvSpPr txBox="1"/>
          <p:nvPr/>
        </p:nvSpPr>
        <p:spPr>
          <a:xfrm>
            <a:off x="3810000" y="51410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Compras</a:t>
            </a:r>
          </a:p>
        </p:txBody>
      </p:sp>
      <p:sp>
        <p:nvSpPr>
          <p:cNvPr id="161" name="Barra 161"/>
          <p:cNvSpPr/>
          <p:nvPr/>
        </p:nvSpPr>
        <p:spPr>
          <a:xfrm>
            <a:off x="5660117" y="5254350"/>
            <a:ext cx="4290786" cy="1524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62" name="Linha 162"/>
          <p:cNvCxnSpPr/>
          <p:nvPr/>
        </p:nvCxnSpPr>
        <p:spPr>
          <a:xfrm>
            <a:off x="673100" y="55201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sp>
        <p:nvSpPr>
          <p:cNvPr id="163" name="Texto 163"/>
          <p:cNvSpPr txBox="1"/>
          <p:nvPr/>
        </p:nvSpPr>
        <p:spPr>
          <a:xfrm>
            <a:off x="673100" y="5520100"/>
            <a:ext cx="3136900" cy="3791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404040"/>
                </a:solidFill>
                <a:latin typeface="Barlow"/>
              </a:rPr>
              <a:t>Câmeras veiculares (locação)</a:t>
            </a:r>
          </a:p>
        </p:txBody>
      </p:sp>
      <p:sp>
        <p:nvSpPr>
          <p:cNvPr id="164" name="Texto 164"/>
          <p:cNvSpPr txBox="1"/>
          <p:nvPr/>
        </p:nvSpPr>
        <p:spPr>
          <a:xfrm>
            <a:off x="3810000" y="5520100"/>
            <a:ext cx="1206500" cy="37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buNone/>
            </a:pPr>
            <a:r>
              <a:rPr lang="pt-BR" sz="1400" dirty="0">
                <a:solidFill>
                  <a:srgbClr val="767171"/>
                </a:solidFill>
                <a:latin typeface="Barlow"/>
              </a:rPr>
              <a:t>Frota</a:t>
            </a:r>
          </a:p>
        </p:txBody>
      </p:sp>
      <p:sp>
        <p:nvSpPr>
          <p:cNvPr id="165" name="Barra 165"/>
          <p:cNvSpPr/>
          <p:nvPr/>
        </p:nvSpPr>
        <p:spPr>
          <a:xfrm>
            <a:off x="5660117" y="5633450"/>
            <a:ext cx="4290786" cy="1524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cxnSp>
        <p:nvCxnSpPr>
          <p:cNvPr id="166" name="Linha 166"/>
          <p:cNvCxnSpPr/>
          <p:nvPr/>
        </p:nvCxnSpPr>
        <p:spPr>
          <a:xfrm>
            <a:off x="673100" y="5899200"/>
            <a:ext cx="10350500" cy="0"/>
          </a:xfrm>
          <a:prstGeom prst="line">
            <a:avLst/>
          </a:prstGeom>
          <a:ln w="6350">
            <a:solidFill>
              <a:srgbClr val="EDEDED"/>
            </a:solidFill>
          </a:ln>
        </p:spPr>
      </p:cxnSp>
      <p:cxnSp>
        <p:nvCxnSpPr>
          <p:cNvPr id="167" name="Linha 167"/>
          <p:cNvCxnSpPr/>
          <p:nvPr/>
        </p:nvCxnSpPr>
        <p:spPr>
          <a:xfrm>
            <a:off x="7644606" y="2032000"/>
            <a:ext cx="0" cy="3943400"/>
          </a:xfrm>
          <a:prstGeom prst="line">
            <a:avLst/>
          </a:prstGeom>
          <a:ln w="15875">
            <a:solidFill>
              <a:srgbClr val="102D69"/>
            </a:solidFill>
            <a:prstDash val="dash"/>
          </a:ln>
        </p:spPr>
      </p:cxnSp>
      <p:sp>
        <p:nvSpPr>
          <p:cNvPr id="168" name="Texto 168"/>
          <p:cNvSpPr txBox="1"/>
          <p:nvPr/>
        </p:nvSpPr>
        <p:spPr>
          <a:xfrm>
            <a:off x="7136606" y="60008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buNone/>
            </a:pPr>
            <a:r>
              <a:rPr lang="pt-BR" sz="1200" b="1" dirty="0">
                <a:solidFill>
                  <a:srgbClr val="102D69"/>
                </a:solidFill>
                <a:latin typeface="Barlow"/>
              </a:rPr>
              <a:t>Hoje, 26/10</a:t>
            </a:r>
          </a:p>
        </p:txBody>
      </p:sp>
      <p:sp>
        <p:nvSpPr>
          <p:cNvPr id="169" name="Legenda 169"/>
          <p:cNvSpPr/>
          <p:nvPr/>
        </p:nvSpPr>
        <p:spPr>
          <a:xfrm>
            <a:off x="764540" y="6051600"/>
            <a:ext cx="127000" cy="127000"/>
          </a:xfrm>
          <a:prstGeom prst="rect">
            <a:avLst/>
          </a:prstGeom>
          <a:solidFill>
            <a:srgbClr val="102D69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0" name="Texto 170"/>
          <p:cNvSpPr txBox="1"/>
          <p:nvPr/>
        </p:nvSpPr>
        <p:spPr>
          <a:xfrm>
            <a:off x="942340" y="59881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200" dirty="0">
                <a:solidFill>
                  <a:srgbClr val="404040"/>
                </a:solidFill>
                <a:latin typeface="Barlow"/>
              </a:rPr>
              <a:t>Em andamento</a:t>
            </a:r>
          </a:p>
        </p:txBody>
      </p:sp>
      <p:sp>
        <p:nvSpPr>
          <p:cNvPr id="171" name="Legenda 171"/>
          <p:cNvSpPr/>
          <p:nvPr/>
        </p:nvSpPr>
        <p:spPr>
          <a:xfrm>
            <a:off x="2136140" y="6051600"/>
            <a:ext cx="127000" cy="12700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2" name="Texto 172"/>
          <p:cNvSpPr txBox="1"/>
          <p:nvPr/>
        </p:nvSpPr>
        <p:spPr>
          <a:xfrm>
            <a:off x="2313940" y="59881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200" dirty="0">
                <a:solidFill>
                  <a:srgbClr val="404040"/>
                </a:solidFill>
                <a:latin typeface="Barlow"/>
              </a:rPr>
              <a:t>Não iniciado</a:t>
            </a:r>
          </a:p>
        </p:txBody>
      </p:sp>
      <p:sp>
        <p:nvSpPr>
          <p:cNvPr id="173" name="Legenda 173"/>
          <p:cNvSpPr/>
          <p:nvPr/>
        </p:nvSpPr>
        <p:spPr>
          <a:xfrm>
            <a:off x="3507740" y="6051600"/>
            <a:ext cx="127000" cy="127000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4" name="Texto 174"/>
          <p:cNvSpPr txBox="1"/>
          <p:nvPr/>
        </p:nvSpPr>
        <p:spPr>
          <a:xfrm>
            <a:off x="3685540" y="5988100"/>
            <a:ext cx="1143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buNone/>
            </a:pPr>
            <a:r>
              <a:rPr lang="pt-BR" sz="1200" dirty="0">
                <a:solidFill>
                  <a:srgbClr val="404040"/>
                </a:solidFill>
                <a:latin typeface="Barlow"/>
              </a:rPr>
              <a:t>Semana atual</a:t>
            </a:r>
          </a:p>
        </p:txBody>
      </p:sp>
    </p:spTree>
    <p:extLst>
      <p:ext uri="{BB962C8B-B14F-4D97-AF65-F5344CB8AC3E}">
        <p14:creationId xmlns:p14="http://schemas.microsoft.com/office/powerpoint/2010/main" val="13317169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02D4233-961E-4C9A-AEEF-B3118A7FE301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ff1a8910-6271-4963-9662-aa9725b0c37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886</TotalTime>
  <Words>78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Barlow ExtraBold</vt:lpstr>
      <vt:lpstr>Aptos</vt:lpstr>
      <vt:lpstr>Barlow</vt:lpstr>
      <vt:lpstr>Calibri</vt:lpstr>
      <vt:lpstr>Arial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WESCLEY CALIXTO MAR</dc:creator>
  <cp:lastModifiedBy>Richardson Alves de Freitas</cp:lastModifiedBy>
  <cp:revision>18</cp:revision>
  <dcterms:created xsi:type="dcterms:W3CDTF">2025-08-18T11:18:03Z</dcterms:created>
  <dcterms:modified xsi:type="dcterms:W3CDTF">2026-10-23T19:13:46Z</dcterms:modified>
</cp:coreProperties>
</file>